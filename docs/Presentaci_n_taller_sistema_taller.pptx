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25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Carátula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hace el sistema y la pantalla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y arquitectura en tres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Pasos de instalación y puesta en marcha.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ER filtrado: solo tablas de tipo catálogo.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ER filtrado: inventario.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ER filtrado: órdenes de trabajo. Las tablas de catálogo aparecen solo como referencia.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Conceptos de programación orientada a objetos aplicados.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de una orden, estados y transacciones.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reportes y exportación a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Reparto de responsabilidades y pruebas realizadas.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25744" y="0"/>
            <a:ext cx="6262255" cy="1028700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3525500" y="5905500"/>
            <a:ext cx="2286000" cy="2286000"/>
          </a:xfrm>
          <a:prstGeom prst="ellipse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1143000" y="1238250"/>
            <a:ext cx="5364480" cy="3657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168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 EL ÚLTIMO ARRANQUE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2999" y="2190750"/>
            <a:ext cx="10716491" cy="2118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590"/>
              </a:lnSpc>
              <a:buNone/>
            </a:pPr>
            <a:r>
              <a:rPr lang="en-US" sz="7800" b="1" kern="0" spc="-78" dirty="0">
                <a:solidFill>
                  <a:srgbClr val="262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143000" y="3194425"/>
            <a:ext cx="10477500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4722"/>
              </a:lnSpc>
              <a:buNone/>
            </a:pPr>
            <a:r>
              <a:rPr lang="en-US" sz="4650" dirty="0">
                <a:solidFill>
                  <a:srgbClr val="262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Órdenes de Trabajo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1143000" y="8191500"/>
            <a:ext cx="70951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del Sistema</a:t>
            </a:r>
            <a:b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· Swing · JDBC · Oracle 21c XE</a:t>
            </a:r>
            <a:endParaRPr lang="en-US" sz="2250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0DCBC1F9-8359-05FE-4164-0348B4489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584060"/>
              </p:ext>
            </p:extLst>
          </p:nvPr>
        </p:nvGraphicFramePr>
        <p:xfrm>
          <a:off x="1143000" y="5966460"/>
          <a:ext cx="4939145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60704">
                  <a:extLst>
                    <a:ext uri="{9D8B030D-6E8A-4147-A177-3AD203B41FA5}">
                      <a16:colId xmlns:a16="http://schemas.microsoft.com/office/drawing/2014/main" val="3920651766"/>
                    </a:ext>
                  </a:extLst>
                </a:gridCol>
                <a:gridCol w="1778441">
                  <a:extLst>
                    <a:ext uri="{9D8B030D-6E8A-4147-A177-3AD203B41FA5}">
                      <a16:colId xmlns:a16="http://schemas.microsoft.com/office/drawing/2014/main" val="8867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Alumno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Carnet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515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Sonia Magana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5990-12-17617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47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7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67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01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G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4995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PARA QUÉ SIRVE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710"/>
              </a:lnSpc>
              <a:buNone/>
            </a:pPr>
            <a:r>
              <a:rPr lang="en-US" sz="45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taller en una sola aplicación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602230"/>
            <a:ext cx="973004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2449"/>
              </a:lnSpc>
              <a:buNone/>
            </a:pPr>
            <a:r>
              <a:rPr lang="en-US" sz="24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registrar clientes, vehículos, mecánicos, repuestos y servicios, abrir órdenes de trabajo, controlar el inventario de repuestos, emitir el comprobante de reparación y consultar reportes.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7259003"/>
            <a:ext cx="39814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7727632"/>
            <a:ext cx="398145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Catálogos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3000" y="8257223"/>
            <a:ext cx="3728085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Menú de Clientes, Vehículos, Mecánicos, Repuestos y Servicios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43500" y="7259003"/>
            <a:ext cx="15240" cy="207549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5539740" y="7259003"/>
            <a:ext cx="354558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39740" y="7727632"/>
            <a:ext cx="354558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Órdenes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39740" y="8257223"/>
            <a:ext cx="331995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Listado de órdenes de trabajo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0" y="7259003"/>
            <a:ext cx="15240" cy="207549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9540240" y="7259003"/>
            <a:ext cx="354558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40240" y="7727632"/>
            <a:ext cx="354558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540240" y="8257223"/>
            <a:ext cx="3545586" cy="397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Menú de los 5 reportes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144500" y="7259003"/>
            <a:ext cx="15240" cy="207549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3540740" y="7259003"/>
            <a:ext cx="396468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40740" y="7727632"/>
            <a:ext cx="396468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Salir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540740" y="8257223"/>
            <a:ext cx="371238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Cierra el sistema y pide confirmación</a:t>
            </a:r>
            <a:endParaRPr lang="en-US" sz="19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68CE8BD-F818-2699-349E-FC182EA50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464" y="1383029"/>
            <a:ext cx="4021505" cy="5467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TECNOLOGÍAS Y ARQUITECTURA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710"/>
              </a:lnSpc>
              <a:buNone/>
            </a:pPr>
            <a:r>
              <a:rPr lang="en-US" sz="45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Tres capas simples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526030"/>
            <a:ext cx="752475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143000" y="2712720"/>
            <a:ext cx="2403277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Lenguaje</a:t>
            </a: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100" b="1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programación</a:t>
            </a: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98677" y="2712720"/>
            <a:ext cx="511814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 Fuente </a:t>
            </a:r>
            <a:r>
              <a:rPr lang="en-US" sz="2100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hecho</a:t>
            </a: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Java 21 (probado con JDK 25)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3577590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143000" y="3756660"/>
            <a:ext cx="27241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48100" y="3756660"/>
            <a:ext cx="9144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4274820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143000" y="4453890"/>
            <a:ext cx="238958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84984" y="4453890"/>
            <a:ext cx="513224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Database 21c XE </a:t>
            </a:r>
            <a:b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 del </a:t>
            </a:r>
            <a:r>
              <a:rPr lang="en-US" sz="2100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servicio</a:t>
            </a: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XEPDB1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5318760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143000" y="5497830"/>
            <a:ext cx="27241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a datos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848100" y="5497830"/>
            <a:ext cx="4744212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JDBC con driver ojdbc11 (Maven)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6015990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143000" y="6195060"/>
            <a:ext cx="27241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848100" y="6195060"/>
            <a:ext cx="359587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IntelliJ IDEA Community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7895358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1143000" y="6713220"/>
            <a:ext cx="75247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143000" y="6892290"/>
            <a:ext cx="260680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b="1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Versionamiento</a:t>
            </a:r>
            <a:r>
              <a:rPr lang="en-US" sz="21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2100" b="1" dirty="0" err="1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848100" y="6892290"/>
            <a:ext cx="4572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14"/>
              </a:lnSpc>
              <a:buNone/>
            </a:pPr>
            <a:r>
              <a:rPr lang="en-US" sz="21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20250" y="2526030"/>
            <a:ext cx="7524750" cy="84582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9925050" y="2773680"/>
            <a:ext cx="10515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vista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737081" y="2819400"/>
            <a:ext cx="231343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Swing · pantallas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244013" y="3562350"/>
            <a:ext cx="82772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620250" y="4126230"/>
            <a:ext cx="7524750" cy="84582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9925050" y="4373880"/>
            <a:ext cx="7924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dao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173200" y="4419600"/>
            <a:ext cx="29337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JDBC · consultas SQL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244013" y="5162550"/>
            <a:ext cx="82772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620250" y="5726430"/>
            <a:ext cx="7524750" cy="84582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9925050" y="5974080"/>
            <a:ext cx="310134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bd.ConexionBD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3502640" y="6019800"/>
            <a:ext cx="36713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conexión por consulta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244013" y="6762750"/>
            <a:ext cx="82772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620250" y="7326630"/>
            <a:ext cx="7524750" cy="84582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6" name="Text 34"/>
          <p:cNvSpPr/>
          <p:nvPr/>
        </p:nvSpPr>
        <p:spPr>
          <a:xfrm>
            <a:off x="9925050" y="7574280"/>
            <a:ext cx="134950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Oracle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2207240" y="7620000"/>
            <a:ext cx="509625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modelo: clases de datos compartidas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INSTALACIÓN Y PUESTA EN MARCHA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710"/>
              </a:lnSpc>
              <a:buNone/>
            </a:pPr>
            <a:r>
              <a:rPr lang="en-US" sz="45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Cinco pasos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602230"/>
            <a:ext cx="769620" cy="769620"/>
          </a:xfrm>
          <a:prstGeom prst="ellipse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127760" y="262509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17420" y="2787015"/>
            <a:ext cx="64373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Instalar JDK, IntelliJ IDEA y Oracle XE 21c.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3657600"/>
            <a:ext cx="769620" cy="769620"/>
          </a:xfrm>
          <a:prstGeom prst="ellipse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127760" y="368046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217420" y="3842384"/>
            <a:ext cx="939355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Ejecutar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sql/00_crear_usuario.sql 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administrador (usuario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43000" y="4728210"/>
            <a:ext cx="769620" cy="769620"/>
          </a:xfrm>
          <a:prstGeom prst="ellipse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127760" y="475107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17420" y="4712970"/>
            <a:ext cx="101823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el usuario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taller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ejecutar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01_crear_tablas.sql 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02_datos_prueba.sql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99_borrar_tablas.sql 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empieza de cero.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43000" y="5798820"/>
            <a:ext cx="769620" cy="769620"/>
          </a:xfrm>
          <a:prstGeom prst="ellipse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127760" y="582168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217420" y="5983605"/>
            <a:ext cx="110223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Abrir la carpeta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codigo 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IntelliJ; Maven descarga el driver de Oracle.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6854190"/>
            <a:ext cx="723900" cy="723900"/>
          </a:xfrm>
          <a:prstGeom prst="ellipse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104900" y="685419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171700" y="7016115"/>
            <a:ext cx="52303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Ejecutar la clase </a:t>
            </a:r>
            <a:r>
              <a:rPr lang="en-US" sz="22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com.taller.Main</a:t>
            </a:r>
            <a:r>
              <a:rPr lang="en-US" sz="22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43000" y="8334375"/>
            <a:ext cx="16002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1143000" y="8616315"/>
            <a:ext cx="776478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Conexión: db.properties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db.url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db.usuario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db.clave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0" y="8616315"/>
            <a:ext cx="15240" cy="71818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9635490" y="8616315"/>
            <a:ext cx="774954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Requisito: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encendido (OracleServiceXE y el listener). Sin conexión, el programa muestra un error y se cierra.</a:t>
            </a:r>
            <a:endParaRPr lang="en-US" sz="19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2DB2804-F62E-21F4-78A0-EBA7B8A04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775" y="1875472"/>
            <a:ext cx="5229225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936269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MODELO DE DATOS · CATÁLOGOS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249680"/>
            <a:ext cx="936269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Cinco tablas de catálogo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43335" y="1143000"/>
            <a:ext cx="608266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Menú Catálogos: Clientes, Vehículos, Mecánicos, Repuestos y Servicios.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2179320"/>
            <a:ext cx="2995374" cy="252984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784860" y="2202180"/>
            <a:ext cx="2949655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975360" y="2335530"/>
            <a:ext cx="26571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CLIENTE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75360" y="2868930"/>
            <a:ext cx="1158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id_cliente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8734" y="286893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4860" y="3246120"/>
            <a:ext cx="294965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975360" y="3348990"/>
            <a:ext cx="26571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4860" y="3726180"/>
            <a:ext cx="294965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975360" y="3829050"/>
            <a:ext cx="26571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telefono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4860" y="4206240"/>
            <a:ext cx="294965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975360" y="4309110"/>
            <a:ext cx="26571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direccion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57374" y="2750820"/>
            <a:ext cx="1519476" cy="22860"/>
          </a:xfrm>
          <a:prstGeom prst="rect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3681401" y="2868930"/>
            <a:ext cx="167142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posee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81401" y="3150870"/>
            <a:ext cx="167142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C8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: 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76850" y="2179320"/>
            <a:ext cx="2995255" cy="348996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5299710" y="2202180"/>
            <a:ext cx="2949535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5490210" y="2335530"/>
            <a:ext cx="26570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VEHICULO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90210" y="2868930"/>
            <a:ext cx="6934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23465" y="286893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299710" y="3246120"/>
            <a:ext cx="294953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5490210" y="3348990"/>
            <a:ext cx="26570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99710" y="3726180"/>
            <a:ext cx="294953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7" name="Text 25"/>
          <p:cNvSpPr/>
          <p:nvPr/>
        </p:nvSpPr>
        <p:spPr>
          <a:xfrm>
            <a:off x="5490210" y="3829050"/>
            <a:ext cx="26570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299710" y="4206240"/>
            <a:ext cx="294953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5490210" y="4309110"/>
            <a:ext cx="26570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anio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299710" y="4686300"/>
            <a:ext cx="294953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5490210" y="4789170"/>
            <a:ext cx="265702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299710" y="5166360"/>
            <a:ext cx="2949535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5490210" y="5269230"/>
            <a:ext cx="1158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id_cliente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46325" y="526923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808363" y="2179320"/>
            <a:ext cx="2727127" cy="252984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Shape 34"/>
          <p:cNvSpPr/>
          <p:nvPr/>
        </p:nvSpPr>
        <p:spPr>
          <a:xfrm>
            <a:off x="8831223" y="2202180"/>
            <a:ext cx="2681407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9021723" y="2335530"/>
            <a:ext cx="23808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MECANICO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021723" y="2868930"/>
            <a:ext cx="16093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id_mecanico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986849" y="286893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831223" y="3246120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1" name="Text 39"/>
          <p:cNvSpPr/>
          <p:nvPr/>
        </p:nvSpPr>
        <p:spPr>
          <a:xfrm>
            <a:off x="9021723" y="3348990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831223" y="3726180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3" name="Text 41"/>
          <p:cNvSpPr/>
          <p:nvPr/>
        </p:nvSpPr>
        <p:spPr>
          <a:xfrm>
            <a:off x="9021723" y="3829050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telefono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831223" y="4206240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5" name="Text 43"/>
          <p:cNvSpPr/>
          <p:nvPr/>
        </p:nvSpPr>
        <p:spPr>
          <a:xfrm>
            <a:off x="9021723" y="4309110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especialidad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831223" y="5088601"/>
            <a:ext cx="2727127" cy="300990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7" name="Shape 45"/>
          <p:cNvSpPr/>
          <p:nvPr/>
        </p:nvSpPr>
        <p:spPr>
          <a:xfrm>
            <a:off x="8854083" y="5111461"/>
            <a:ext cx="2681407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8" name="Text 46"/>
          <p:cNvSpPr/>
          <p:nvPr/>
        </p:nvSpPr>
        <p:spPr>
          <a:xfrm>
            <a:off x="9044583" y="5244811"/>
            <a:ext cx="23808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REPUESTO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9044583" y="5778211"/>
            <a:ext cx="147523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id_repuesto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009710" y="5778211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854083" y="6155401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2" name="Text 50"/>
          <p:cNvSpPr/>
          <p:nvPr/>
        </p:nvSpPr>
        <p:spPr>
          <a:xfrm>
            <a:off x="9044583" y="6258271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854083" y="6635461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4" name="Text 52"/>
          <p:cNvSpPr/>
          <p:nvPr/>
        </p:nvSpPr>
        <p:spPr>
          <a:xfrm>
            <a:off x="9044583" y="6738331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descripcion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8854083" y="7115521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6" name="Text 54"/>
          <p:cNvSpPr/>
          <p:nvPr/>
        </p:nvSpPr>
        <p:spPr>
          <a:xfrm>
            <a:off x="9044583" y="7218391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854083" y="7595581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8" name="Text 56"/>
          <p:cNvSpPr/>
          <p:nvPr/>
        </p:nvSpPr>
        <p:spPr>
          <a:xfrm>
            <a:off x="9044583" y="7698451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cantidad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62000" y="5776306"/>
            <a:ext cx="2727127" cy="204978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0" name="Shape 58"/>
          <p:cNvSpPr/>
          <p:nvPr/>
        </p:nvSpPr>
        <p:spPr>
          <a:xfrm>
            <a:off x="784861" y="5799166"/>
            <a:ext cx="2681407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1" name="Text 59"/>
          <p:cNvSpPr/>
          <p:nvPr/>
        </p:nvSpPr>
        <p:spPr>
          <a:xfrm>
            <a:off x="975361" y="5932516"/>
            <a:ext cx="23808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SERVICIO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975361" y="6465916"/>
            <a:ext cx="131597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id_servicio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2940487" y="6465916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784861" y="6843106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5" name="Text 63"/>
          <p:cNvSpPr/>
          <p:nvPr/>
        </p:nvSpPr>
        <p:spPr>
          <a:xfrm>
            <a:off x="975361" y="6945976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descripcion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784861" y="7323166"/>
            <a:ext cx="2681407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7" name="Text 65"/>
          <p:cNvSpPr/>
          <p:nvPr/>
        </p:nvSpPr>
        <p:spPr>
          <a:xfrm>
            <a:off x="975361" y="7426036"/>
            <a:ext cx="23808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costo_mano_obra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762000" y="8321040"/>
            <a:ext cx="16764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9" name="Text 67"/>
          <p:cNvSpPr/>
          <p:nvPr/>
        </p:nvSpPr>
        <p:spPr>
          <a:xfrm>
            <a:off x="762000" y="8564880"/>
            <a:ext cx="541269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 eliminan clientes con vehículos, ni vehículos o mecánicos con órdenes.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6349961" y="8564880"/>
            <a:ext cx="15240" cy="9601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1" name="Text 69"/>
          <p:cNvSpPr/>
          <p:nvPr/>
        </p:nvSpPr>
        <p:spPr>
          <a:xfrm>
            <a:off x="6708101" y="8564880"/>
            <a:ext cx="505455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 eliminan servicios usados en órdenes; los repuestos no se eliminan.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1937921" y="8564880"/>
            <a:ext cx="15240" cy="96012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3" name="Text 71"/>
          <p:cNvSpPr/>
          <p:nvPr/>
        </p:nvSpPr>
        <p:spPr>
          <a:xfrm>
            <a:off x="12296061" y="8564880"/>
            <a:ext cx="5397459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Precio, costo y cantidad no pueden ser negativos. Año del vehículo: 1950 a año actual + 1.</a:t>
            </a:r>
            <a:endParaRPr lang="en-US" sz="1800" dirty="0"/>
          </a:p>
        </p:txBody>
      </p:sp>
      <p:pic>
        <p:nvPicPr>
          <p:cNvPr id="75" name="Imagen 74">
            <a:extLst>
              <a:ext uri="{FF2B5EF4-FFF2-40B4-BE49-F238E27FC236}">
                <a16:creationId xmlns:a16="http://schemas.microsoft.com/office/drawing/2014/main" id="{EC73BDCC-C929-B6F7-346E-5ED7CFECB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8943" y="2202180"/>
            <a:ext cx="3647057" cy="5683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MODELO DE DATOS · INVENTARIO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Repuestos y abastecimiento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484120"/>
            <a:ext cx="4046220" cy="330708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1165860" y="2506980"/>
            <a:ext cx="4000500" cy="60198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375410" y="2640330"/>
            <a:ext cx="370141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REPUESTO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5410" y="3223260"/>
            <a:ext cx="16428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id_repuesto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591050" y="3223260"/>
            <a:ext cx="4419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65860" y="36347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1375410" y="37566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nombre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65860" y="41681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1375410" y="42900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65860" y="47015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375410" y="48234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65860" y="52349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1375410" y="53568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cantidad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189220" y="3150870"/>
            <a:ext cx="2476500" cy="22860"/>
          </a:xfrm>
          <a:prstGeom prst="rect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5065395" y="3268980"/>
            <a:ext cx="27241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se_abastece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065395" y="3566160"/>
            <a:ext cx="27241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8C8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: 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665720" y="2484120"/>
            <a:ext cx="4046220" cy="277368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7688580" y="2506980"/>
            <a:ext cx="4000500" cy="60198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7898130" y="2640330"/>
            <a:ext cx="370141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ABASTECIMIENTO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898130" y="3223260"/>
            <a:ext cx="25648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id_abastecimiento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113770" y="3223260"/>
            <a:ext cx="4419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688580" y="36347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7898130" y="3756660"/>
            <a:ext cx="16428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id_repuesto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136631" y="3756660"/>
            <a:ext cx="4191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688580" y="41681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7898130" y="42900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cantidad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688580" y="4701540"/>
            <a:ext cx="400050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7898130" y="4823460"/>
            <a:ext cx="37014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43000" y="7975282"/>
            <a:ext cx="16002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1143000" y="8257223"/>
            <a:ext cx="511302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Cantidad inicial: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se escribe al registrar el repuesto; al editar queda bloqueada.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477000" y="8257223"/>
            <a:ext cx="15240" cy="107727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/>
          <p:nvPr/>
        </p:nvSpPr>
        <p:spPr>
          <a:xfrm>
            <a:off x="6873240" y="8257223"/>
            <a:ext cx="471678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Abastecer: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suma la cantidad e inserta el abastecimiento con su fecha, en una sola transacción.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1811000" y="8257223"/>
            <a:ext cx="15240" cy="107727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12207240" y="8257223"/>
            <a:ext cx="5097780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Bajo inventario: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reporte lista repuestos con existencia de 5 o menos.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79847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MODELO DE DATOS · ÓRDENES DE TRABAJO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249680"/>
            <a:ext cx="7984772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Orden y su detalle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639550" y="1143000"/>
            <a:ext cx="58864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catálogos aparecen como referencia (fondo lavanda).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62000" y="4118610"/>
            <a:ext cx="2857500" cy="98679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71550" y="4290060"/>
            <a:ext cx="1722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VEHICULO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71550" y="4652010"/>
            <a:ext cx="2682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placa PK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391150"/>
            <a:ext cx="2857500" cy="98679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971550" y="5562600"/>
            <a:ext cx="186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MECANICO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1550" y="5924550"/>
            <a:ext cx="2682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id_mecanico PK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19500" y="4775835"/>
            <a:ext cx="1143000" cy="22860"/>
          </a:xfrm>
          <a:prstGeom prst="rect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581400" y="4874895"/>
            <a:ext cx="121920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tiene atiende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1400" y="5438775"/>
            <a:ext cx="121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C8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: 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62500" y="3099435"/>
            <a:ext cx="3569970" cy="429768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4785360" y="3122295"/>
            <a:ext cx="3524250" cy="5715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4975860" y="3255645"/>
            <a:ext cx="32489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ORDEN_TRABAJO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975860" y="3779520"/>
            <a:ext cx="10744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id_orden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83830" y="377952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85360" y="414718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4975860" y="4240530"/>
            <a:ext cx="6934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06690" y="424053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85360" y="460819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4975860" y="4701540"/>
            <a:ext cx="16093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id_mecanico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06690" y="470154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85360" y="506920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975860" y="5162550"/>
            <a:ext cx="32489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descripcion_problema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85360" y="553021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4975860" y="5623560"/>
            <a:ext cx="32489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785360" y="599122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4975860" y="6084570"/>
            <a:ext cx="32489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fecha_creacion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785360" y="645223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4975860" y="6545580"/>
            <a:ext cx="32489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fecha_finalizacion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85360" y="6913245"/>
            <a:ext cx="352425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4975860" y="7006590"/>
            <a:ext cx="324897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32470" y="4775835"/>
            <a:ext cx="1047750" cy="22860"/>
          </a:xfrm>
          <a:prstGeom prst="rect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6" name="Text 34"/>
          <p:cNvSpPr/>
          <p:nvPr/>
        </p:nvSpPr>
        <p:spPr>
          <a:xfrm>
            <a:off x="8294370" y="4874895"/>
            <a:ext cx="112395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incluye usa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94370" y="5438775"/>
            <a:ext cx="11239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8C8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: 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380220" y="2366010"/>
            <a:ext cx="3238500" cy="231648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9" name="Shape 37"/>
          <p:cNvSpPr/>
          <p:nvPr/>
        </p:nvSpPr>
        <p:spPr>
          <a:xfrm>
            <a:off x="9403080" y="2388870"/>
            <a:ext cx="3192780" cy="5105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0" name="Text 38"/>
          <p:cNvSpPr/>
          <p:nvPr/>
        </p:nvSpPr>
        <p:spPr>
          <a:xfrm>
            <a:off x="9593580" y="250317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ORDEN_SERVICIO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93580" y="2975610"/>
            <a:ext cx="11658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id_detalle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070081" y="297561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403080" y="333375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4" name="Text 42"/>
          <p:cNvSpPr/>
          <p:nvPr/>
        </p:nvSpPr>
        <p:spPr>
          <a:xfrm>
            <a:off x="9593580" y="3417570"/>
            <a:ext cx="10744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id_orden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092940" y="341757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403080" y="377571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7" name="Text 45"/>
          <p:cNvSpPr/>
          <p:nvPr/>
        </p:nvSpPr>
        <p:spPr>
          <a:xfrm>
            <a:off x="9593580" y="3859530"/>
            <a:ext cx="131597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id_servicio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092940" y="385953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403080" y="421767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0" name="Text 48"/>
          <p:cNvSpPr/>
          <p:nvPr/>
        </p:nvSpPr>
        <p:spPr>
          <a:xfrm>
            <a:off x="9593580" y="430149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costo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380220" y="4930140"/>
            <a:ext cx="3238500" cy="3200400"/>
          </a:xfrm>
          <a:prstGeom prst="rect">
            <a:avLst/>
          </a:prstGeom>
          <a:ln w="22860">
            <a:solidFill>
              <a:srgbClr val="26262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2" name="Shape 50"/>
          <p:cNvSpPr/>
          <p:nvPr/>
        </p:nvSpPr>
        <p:spPr>
          <a:xfrm>
            <a:off x="9403080" y="4953000"/>
            <a:ext cx="3192780" cy="5105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3" name="Text 51"/>
          <p:cNvSpPr/>
          <p:nvPr/>
        </p:nvSpPr>
        <p:spPr>
          <a:xfrm>
            <a:off x="9593580" y="506730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ORDEN_REPUESTO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593580" y="5539740"/>
            <a:ext cx="11658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id_detalle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2070081" y="5539740"/>
            <a:ext cx="411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9403080" y="589788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7" name="Text 55"/>
          <p:cNvSpPr/>
          <p:nvPr/>
        </p:nvSpPr>
        <p:spPr>
          <a:xfrm>
            <a:off x="9593580" y="5981700"/>
            <a:ext cx="10744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id_orden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2092940" y="598170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403080" y="633984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0" name="Text 58"/>
          <p:cNvSpPr/>
          <p:nvPr/>
        </p:nvSpPr>
        <p:spPr>
          <a:xfrm>
            <a:off x="9593580" y="6423660"/>
            <a:ext cx="147523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id_repuesto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092940" y="6423660"/>
            <a:ext cx="3886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403080" y="678180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3" name="Text 61"/>
          <p:cNvSpPr/>
          <p:nvPr/>
        </p:nvSpPr>
        <p:spPr>
          <a:xfrm>
            <a:off x="9593580" y="686562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cantidad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403080" y="722376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5" name="Text 63"/>
          <p:cNvSpPr/>
          <p:nvPr/>
        </p:nvSpPr>
        <p:spPr>
          <a:xfrm>
            <a:off x="9593580" y="730758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precio_unitario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9403080" y="7665720"/>
            <a:ext cx="3192780" cy="9525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7" name="Text 65"/>
          <p:cNvSpPr/>
          <p:nvPr/>
        </p:nvSpPr>
        <p:spPr>
          <a:xfrm>
            <a:off x="9593580" y="7749540"/>
            <a:ext cx="29075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subtotal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2618720" y="5236845"/>
            <a:ext cx="571500" cy="22860"/>
          </a:xfrm>
          <a:prstGeom prst="rect">
            <a:avLst/>
          </a:prstGeom>
          <a:solidFill>
            <a:srgbClr val="D96073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9" name="Shape 67"/>
          <p:cNvSpPr/>
          <p:nvPr/>
        </p:nvSpPr>
        <p:spPr>
          <a:xfrm>
            <a:off x="13190220" y="4118610"/>
            <a:ext cx="2190750" cy="98679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0" name="Text 68"/>
          <p:cNvSpPr/>
          <p:nvPr/>
        </p:nvSpPr>
        <p:spPr>
          <a:xfrm>
            <a:off x="13399770" y="4290060"/>
            <a:ext cx="1592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SERVICIO</a:t>
            </a:r>
            <a:endParaRPr lang="en-US" sz="1950" dirty="0"/>
          </a:p>
        </p:txBody>
      </p:sp>
      <p:sp>
        <p:nvSpPr>
          <p:cNvPr id="71" name="Text 69"/>
          <p:cNvSpPr/>
          <p:nvPr/>
        </p:nvSpPr>
        <p:spPr>
          <a:xfrm>
            <a:off x="13399770" y="4652010"/>
            <a:ext cx="19488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id_servicio PK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3190220" y="5391150"/>
            <a:ext cx="2190750" cy="98679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3" name="Text 71"/>
          <p:cNvSpPr/>
          <p:nvPr/>
        </p:nvSpPr>
        <p:spPr>
          <a:xfrm>
            <a:off x="13399770" y="5562600"/>
            <a:ext cx="17602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REPUESTO</a:t>
            </a:r>
            <a:endParaRPr lang="en-US" sz="1950" dirty="0"/>
          </a:p>
        </p:txBody>
      </p:sp>
      <p:sp>
        <p:nvSpPr>
          <p:cNvPr id="74" name="Text 72"/>
          <p:cNvSpPr/>
          <p:nvPr/>
        </p:nvSpPr>
        <p:spPr>
          <a:xfrm>
            <a:off x="13399770" y="5924550"/>
            <a:ext cx="19488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id_repuesto PK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62000" y="8660130"/>
            <a:ext cx="16764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76" name="Text 74"/>
          <p:cNvSpPr/>
          <p:nvPr/>
        </p:nvSpPr>
        <p:spPr>
          <a:xfrm>
            <a:off x="762000" y="8884920"/>
            <a:ext cx="1726692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514"/>
              </a:lnSpc>
              <a:buNone/>
            </a:pPr>
            <a:r>
              <a:rPr lang="en-US" sz="18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Precio del momento: orden_servicio.costo </a:t>
            </a: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 </a:t>
            </a:r>
            <a:r>
              <a:rPr lang="en-US" sz="180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orden_repuesto.precio_unitario </a:t>
            </a:r>
            <a:r>
              <a:rPr lang="en-US" sz="180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guardan el precio vigente, por lo que cambiar el catálogo no altera órdenes anteriores. Los identificadores de órdenes y detalles son columnas de identidad.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PROGRAMACIÓN ORIENTADA A OBJETOS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Diagrama de clases en la práctica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484120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143000" y="2697480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Herencia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4944618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 (abstracta) → Cliente, Mecanico. DetalleOrden (abstracta) → DetalleServicio, DetalleRepuesto. ListadoBase → 6 listados. ReporteBase → 5 reportes.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654761" y="2484120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6654761" y="2697480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Polimorfismo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54761" y="3177540"/>
            <a:ext cx="4803344" cy="105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mostrarInformacion() en Persona. getSubtotal() en DetalleOrden, usado por OrdenTrabajo.calcularTotal().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166521" y="2484120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2166521" y="2697480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Encapsulamiento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66521" y="3177540"/>
            <a:ext cx="4889677" cy="105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Atributos private con getters y setters; los setters validan y lanzan ValidacionException.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5712143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143000" y="5925503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Composición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6405563"/>
            <a:ext cx="4246092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OrdenTrabajo crea y contiene un ArrayList&lt;DetalleOrden&gt;.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654761" y="5712143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654761" y="5925503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Enumeración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654761" y="6405563"/>
            <a:ext cx="3649598" cy="105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EstadoOrden: PENDIENTE, EN_PROCESO, FINALIZADA, CANCELADA.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166521" y="5712143"/>
            <a:ext cx="4978361" cy="2286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12166521" y="5925503"/>
            <a:ext cx="547619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Excepciones propias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166521" y="6405563"/>
            <a:ext cx="5030952" cy="1053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ValidacionException (usuario o reglas de negocio) y DatosException (base de datos).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8221980"/>
            <a:ext cx="16002000" cy="111252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1447800" y="8431530"/>
            <a:ext cx="158724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Convenciones: 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 en español, sin comentarios, consultas con PreparedStatement, recursos con try-with-resources y dinero con BigDecimal.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096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· ÓRDENES DE TRABAJO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097280"/>
            <a:ext cx="1760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Estados y transacciones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1950720"/>
            <a:ext cx="2392680" cy="72390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428750" y="2160270"/>
            <a:ext cx="18973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PENDIENTE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726180" y="2137410"/>
            <a:ext cx="3276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→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168140" y="1950720"/>
            <a:ext cx="2628900" cy="72390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453890" y="2160270"/>
            <a:ext cx="213626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 PROCESO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87540" y="2137410"/>
            <a:ext cx="32766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D96073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29500" y="1950720"/>
            <a:ext cx="2545080" cy="72390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7715250" y="2160270"/>
            <a:ext cx="20499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FINALIZADA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41331" y="1956435"/>
            <a:ext cx="2667000" cy="712470"/>
          </a:xfrm>
          <a:prstGeom prst="rect">
            <a:avLst/>
          </a:prstGeom>
          <a:ln w="22860">
            <a:solidFill>
              <a:srgbClr val="D96073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0949941" y="2160270"/>
            <a:ext cx="21297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CANCELADA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2941320"/>
            <a:ext cx="6927175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1143000" y="3042285"/>
            <a:ext cx="22002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PENDIENTE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333750" y="3042285"/>
            <a:ext cx="234696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Iniciar o cancelar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3589020"/>
            <a:ext cx="692717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1143000" y="3682365"/>
            <a:ext cx="20764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PROCESO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333750" y="3682365"/>
            <a:ext cx="487851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Agregar y quitar servicios y repuestos, finalizar, cancelar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4575810"/>
            <a:ext cx="692717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143000" y="4669155"/>
            <a:ext cx="22002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FINALIZADA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333750" y="4669155"/>
            <a:ext cx="305943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ver comprobante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43000" y="5741670"/>
            <a:ext cx="692717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1143000" y="5215890"/>
            <a:ext cx="692717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1143000" y="5309235"/>
            <a:ext cx="220027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CANCELADA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333750" y="5309235"/>
            <a:ext cx="195300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consultar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8832175" y="2941320"/>
            <a:ext cx="8312825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8832175" y="3042285"/>
            <a:ext cx="2648903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agregarRepuesto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594426" y="3042285"/>
            <a:ext cx="5717092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Bloquea el repuesto, valida existencia, descuenta inventario, inserta detalle y recalcula el total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8832175" y="4282440"/>
            <a:ext cx="831282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8832175" y="4375785"/>
            <a:ext cx="264890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quitarRepuesto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594426" y="4375785"/>
            <a:ext cx="57170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Devuelve la cantidad al inventario y recalcula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8832175" y="5269230"/>
            <a:ext cx="831282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8832175" y="5362575"/>
            <a:ext cx="264890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finalizar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594426" y="5362575"/>
            <a:ext cx="57170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desde EN_PROCESO y con al menos un servicio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8832175" y="7128510"/>
            <a:ext cx="831282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7" name="Shape 35"/>
          <p:cNvSpPr/>
          <p:nvPr/>
        </p:nvSpPr>
        <p:spPr>
          <a:xfrm>
            <a:off x="8832175" y="6256020"/>
            <a:ext cx="8312825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8832175" y="6349365"/>
            <a:ext cx="2648903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cancelar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594426" y="6349365"/>
            <a:ext cx="57170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Desde PENDIENTE o EN_PROCESO; devuelve los repuestos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43000" y="7402830"/>
            <a:ext cx="16002000" cy="107442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1" name="Text 39"/>
          <p:cNvSpPr/>
          <p:nvPr/>
        </p:nvSpPr>
        <p:spPr>
          <a:xfrm>
            <a:off x="1447800" y="7593330"/>
            <a:ext cx="158724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operación de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OrdenDAO 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 con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setAutoCommit(false)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… FOR UPDATE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 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todo sale bien y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 </a:t>
            </a:r>
            <a:r>
              <a:rPr lang="en-US" sz="1950" dirty="0">
                <a:solidFill>
                  <a:srgbClr val="262628"/>
                </a:solidFill>
                <a:highlight>
                  <a:srgbClr val="E3E1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 cualquier error.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· REPORTES Y EXPORTACIÓN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 err="1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Listado</a:t>
            </a: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de </a:t>
            </a:r>
            <a:r>
              <a:rPr lang="en-US" sz="4200" b="1" dirty="0" err="1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reportes</a:t>
            </a: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4200" b="1" dirty="0" err="1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disponibles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446020"/>
            <a:ext cx="16002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143000" y="2594610"/>
            <a:ext cx="5448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81750" y="2594610"/>
            <a:ext cx="5238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PARÁMETRO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0" y="2594610"/>
            <a:ext cx="62865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MUESTRA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300990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1143000" y="3188970"/>
            <a:ext cx="510159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Órdenes por estado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1750" y="3188970"/>
            <a:ext cx="490537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 o “TODAS”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0" y="3188970"/>
            <a:ext cx="58864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Órdenes con vehículo, cliente, mecánico y total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05384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1143000" y="4232910"/>
            <a:ext cx="5448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Reparaciones por vehículo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381750" y="4232910"/>
            <a:ext cx="5238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Placa (obligatoria)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430000" y="4232910"/>
            <a:ext cx="62865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 de órdenes del vehículo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75107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143000" y="4930140"/>
            <a:ext cx="5448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Bajo inventario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381750" y="4930140"/>
            <a:ext cx="5238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Ninguno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430000" y="4930140"/>
            <a:ext cx="62865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Repuestos con existencia de 5 o menos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44830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1143000" y="5627370"/>
            <a:ext cx="5448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Reparaciones por mecánico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381750" y="5627370"/>
            <a:ext cx="5238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Mecánico o “Todos”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0" y="5627370"/>
            <a:ext cx="62865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Órdenes atendidas por mecánico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684276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1143000" y="6145530"/>
            <a:ext cx="1600200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1143000" y="6324600"/>
            <a:ext cx="54483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Ingresos por reparaciones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381750" y="6324600"/>
            <a:ext cx="5238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Fechas AAAA-MM-DD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430000" y="6324600"/>
            <a:ext cx="628650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Órdenes finalizadas y total general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143000" y="8334375"/>
            <a:ext cx="1600200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1143000" y="8616315"/>
            <a:ext cx="776478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Uso: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elegir el reporte, llenar el parámetro,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Generar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y si se desea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Exportar HTML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144000" y="8616315"/>
            <a:ext cx="15240" cy="71818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9635490" y="8616315"/>
            <a:ext cx="7749540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ExportadorTabla.aHtml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 HTML UTF-8 desde cualquier JTable. El </a:t>
            </a: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Comprobante </a:t>
            </a: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guarda como HTML.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D960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EQUIPO Y PRUEBAS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40180"/>
            <a:ext cx="1760220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506"/>
              </a:lnSpc>
              <a:buNone/>
            </a:pPr>
            <a:r>
              <a:rPr lang="en-US" sz="420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Responsabilidades del equipo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446020"/>
            <a:ext cx="9086850" cy="15240"/>
          </a:xfrm>
          <a:prstGeom prst="rect">
            <a:avLst/>
          </a:prstGeom>
          <a:solidFill>
            <a:srgbClr val="262628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1143000" y="2613660"/>
            <a:ext cx="150495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Sonia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800350" y="2613660"/>
            <a:ext cx="7652385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Integradora: infraestructura, pantalla inicial, creación de órdenes y comprobante. Commit final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3459480"/>
            <a:ext cx="90868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1143000" y="3619500"/>
            <a:ext cx="15716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Brian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800350" y="3619500"/>
            <a:ext cx="673912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datos, reportes, exportación y diagramas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18610"/>
            <a:ext cx="90868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143000" y="4278630"/>
            <a:ext cx="15716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Mynor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800350" y="4278630"/>
            <a:ext cx="274929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y servicios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4777740"/>
            <a:ext cx="90868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1143000" y="4937760"/>
            <a:ext cx="15716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800350" y="4937760"/>
            <a:ext cx="3034284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Vehículos e inventario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096000"/>
            <a:ext cx="90868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1143000" y="5436870"/>
            <a:ext cx="9086850" cy="952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1143000" y="5596890"/>
            <a:ext cx="157162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b="1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Charlie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2800350" y="5596890"/>
            <a:ext cx="673074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Núcleo de las órdenes de trabajo y transacciones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43000" y="6294120"/>
            <a:ext cx="9359456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950" dirty="0">
                <a:solidFill>
                  <a:srgbClr val="8C8C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Documentación revisada entre todo el equipo.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087100" y="2446020"/>
            <a:ext cx="6057900" cy="6888480"/>
          </a:xfrm>
          <a:prstGeom prst="rect">
            <a:avLst/>
          </a:prstGeom>
          <a:solidFill>
            <a:srgbClr val="E3E1FF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11506200" y="2827020"/>
            <a:ext cx="574167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6262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Pruebas realizadas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506200" y="3406140"/>
            <a:ext cx="5376291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Conexión a Oracle y consultas de todos los DAO.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506200" y="4276725"/>
            <a:ext cx="5376291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Descuento de inventario, rechazo por existencia insuficiente y devolución al cancelar.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506200" y="5506403"/>
            <a:ext cx="5376291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Abastecimiento actualiza existencia y listado de agotados.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506200" y="6376988"/>
            <a:ext cx="5376291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950" dirty="0">
                <a:solidFill>
                  <a:srgbClr val="26262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cinco reportes generan datos con la información de prueba.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1246</Words>
  <Application>Microsoft Office PowerPoint</Application>
  <PresentationFormat>Personalizado</PresentationFormat>
  <Paragraphs>272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Unbounded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Garcia gonzalez, Julio</cp:lastModifiedBy>
  <cp:revision>2</cp:revision>
  <dcterms:created xsi:type="dcterms:W3CDTF">2026-10-17T07:28:42Z</dcterms:created>
  <dcterms:modified xsi:type="dcterms:W3CDTF">2026-10-17T07:42:04Z</dcterms:modified>
</cp:coreProperties>
</file>